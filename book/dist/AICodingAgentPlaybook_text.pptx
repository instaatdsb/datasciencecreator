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EBOOK 01 ·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777240"/>
            <a:ext cx="3429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C7CEE8"/>
                </a:solidFill>
                <a:latin typeface="Inter"/>
              </a:rPr>
              <a:t>@DATA.SCIENCE.BEGINNERS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9144000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0" b="1">
                <a:solidFill>
                  <a:srgbClr val="F0F4FF"/>
                </a:solidFill>
                <a:latin typeface="Inter"/>
              </a:rPr>
              <a:t>The AI Coding</a:t>
            </a:r>
          </a:p>
          <a:p>
            <a:pPr algn="l">
              <a:lnSpc>
                <a:spcPct val="95000"/>
              </a:lnSpc>
            </a:pPr>
            <a:r>
              <a:rPr sz="8800" b="1">
                <a:solidFill>
                  <a:srgbClr val="F0F4FF"/>
                </a:solidFill>
                <a:latin typeface="Inter"/>
              </a:rPr>
              <a:t>Agent Playbook.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813816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>
                <a:solidFill>
                  <a:srgbClr val="C7CEE8"/>
                </a:solidFill>
                <a:latin typeface="Inter"/>
              </a:rPr>
              <a:t>Why AI writes 400 lines of code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C7CEE8"/>
                </a:solidFill>
                <a:latin typeface="Inter"/>
              </a:rPr>
              <a:t>and still breaks your project —</a:t>
            </a:r>
          </a:p>
          <a:p>
            <a:pPr algn="l">
              <a:lnSpc>
                <a:spcPct val="135000"/>
              </a:lnSpc>
            </a:pPr>
            <a:r>
              <a:rPr sz="2600" b="0">
                <a:solidFill>
                  <a:srgbClr val="C7CEE8"/>
                </a:solidFill>
                <a:latin typeface="Inter"/>
              </a:rPr>
              <a:t>and how to fix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194435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8E99C0"/>
                </a:solidFill>
                <a:latin typeface="Inter"/>
              </a:rPr>
              <a:t>11 SLIDES · SAVE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194435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1">
                <a:solidFill>
                  <a:srgbClr val="4CE0D6"/>
                </a:solidFill>
                <a:latin typeface="Inter"/>
              </a:rPr>
              <a:t>SWIPE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68880"/>
            <a:ext cx="9144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AI wrote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400 lines.</a:t>
            </a:r>
          </a:p>
          <a:p>
            <a:pPr algn="l">
              <a:lnSpc>
                <a:spcPct val="100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Nothing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94944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>
                <a:solidFill>
                  <a:srgbClr val="C7CEE8"/>
                </a:solidFill>
                <a:latin typeface="Inter"/>
              </a:rPr>
              <a:t>You typed a normal instruction.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C7CEE8"/>
                </a:solidFill>
                <a:latin typeface="Inter"/>
              </a:rPr>
              <a:t>The agent worked confidently.</a:t>
            </a:r>
          </a:p>
          <a:p>
            <a:pPr algn="l">
              <a:lnSpc>
                <a:spcPct val="135000"/>
              </a:lnSpc>
            </a:pPr>
            <a:r>
              <a:rPr sz="2200" b="0">
                <a:solidFill>
                  <a:srgbClr val="C7CEE8"/>
                </a:solidFill>
                <a:latin typeface="Inter"/>
              </a:rPr>
              <a:t>Now your app is broken.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9509760"/>
            <a:ext cx="8915400" cy="1828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9646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4CE0D6"/>
                </a:solidFill>
                <a:latin typeface="Inter"/>
              </a:rPr>
              <a:t>THE UNCOMFORTABLE TRUTH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001268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0F4FF"/>
                </a:solidFill>
                <a:latin typeface="Inter"/>
              </a:rPr>
              <a:t>It's almost never your prompt.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F0F4FF"/>
                </a:solidFill>
                <a:latin typeface="Inter"/>
              </a:rPr>
              <a:t>It's everything MISSING around the prompt.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The AI Coding Agent Playbook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KEEP GOING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KNOW WHAT YOU'RE USING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9144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0F4FF"/>
                </a:solidFill>
                <a:latin typeface="Inter"/>
              </a:rPr>
              <a:t>Three tools.</a:t>
            </a:r>
          </a:p>
          <a:p>
            <a:pPr algn="l">
              <a:lnSpc>
                <a:spcPct val="100000"/>
              </a:lnSpc>
            </a:pPr>
            <a:r>
              <a:rPr sz="6800" b="1">
                <a:solidFill>
                  <a:srgbClr val="F0F4FF"/>
                </a:solidFill>
                <a:latin typeface="Inter"/>
              </a:rPr>
              <a:t>Big difference.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6675120"/>
            <a:ext cx="2788920" cy="310896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9037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0">
                <a:solidFill>
                  <a:srgbClr val="F0F4FF"/>
                </a:solidFill>
                <a:latin typeface="Inter"/>
              </a:rP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79552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spc="300">
                <a:solidFill>
                  <a:srgbClr val="8E99C0"/>
                </a:solidFill>
                <a:latin typeface="Inter"/>
              </a:rPr>
              <a:t>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845820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Just talks.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No files. No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6675120"/>
            <a:ext cx="2788920" cy="310896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69037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0">
                <a:solidFill>
                  <a:srgbClr val="F0F4FF"/>
                </a:solidFill>
                <a:latin typeface="Inter"/>
              </a:rPr>
              <a:t>⌨️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79552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spc="300">
                <a:solidFill>
                  <a:srgbClr val="F5C453"/>
                </a:solidFill>
                <a:latin typeface="Inter"/>
              </a:rPr>
              <a:t>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845820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Suggests as you type.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You still drive.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6675120"/>
            <a:ext cx="2788920" cy="310896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 w="28575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6903720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200" b="0">
                <a:solidFill>
                  <a:srgbClr val="F0F4FF"/>
                </a:solidFill>
                <a:latin typeface="Inter"/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795528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spc="300">
                <a:solidFill>
                  <a:srgbClr val="4CE0D6"/>
                </a:solidFill>
                <a:latin typeface="Inter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8458200"/>
            <a:ext cx="2423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Edits files. Runs tests.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Ships real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05156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C7CEE8"/>
                </a:solidFill>
                <a:latin typeface="Inter"/>
              </a:rPr>
              <a:t>The more it can do, the more your WORKFLOW matters.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Chatbot ≠ Assistant ≠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SWIPE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04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THE ONE IDEA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A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12064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is not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9144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0" b="1">
                <a:solidFill>
                  <a:srgbClr val="4CE0D6"/>
                </a:solidFill>
                <a:latin typeface="Inter"/>
              </a:rPr>
              <a:t>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9601200"/>
            <a:ext cx="8915400" cy="1828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97840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Prompt = one instruction. Life: minutes.</a:t>
            </a:r>
          </a:p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Workflow = the system around it. Life: the whole project.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Prompt ≠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THE SYSTEM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05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THE WHOLE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91440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0F4FF"/>
                </a:solidFill>
                <a:latin typeface="Inter"/>
              </a:rPr>
              <a:t>The 8 stages.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0F4FF"/>
                </a:solidFill>
                <a:latin typeface="Inter"/>
              </a:rPr>
              <a:t>Skip one = trouble.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937760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937760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5074920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07492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5029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3492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What is the job?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24728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824728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5961888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961888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59161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623620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What is this project?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6711696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711696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1560" y="6848856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6848856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680313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712317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What's already there?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7598664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7598664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7735824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7735824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76901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801014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What must NOT change?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8485632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8485632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51560" y="8622792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8622792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857707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EXECUTE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74519" y="8897112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Small step. Look. Repeat.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9372600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9372600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1560" y="9509760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950976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9464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9784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Prove it works.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10259568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10259568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51560" y="10396728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10396728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1035100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74519" y="10671048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Read every change.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11146536"/>
            <a:ext cx="8915400" cy="777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" y="11146536"/>
            <a:ext cx="91440" cy="77724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51560" y="11283696"/>
            <a:ext cx="502920" cy="502920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" y="11283696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74519" y="1123797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0F4FF"/>
                </a:solidFill>
                <a:latin typeface="Inter"/>
              </a:rPr>
              <a:t>LEARN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74519" y="11558016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Turn surprise into rule.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The 8-stage operating 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ZOOM IN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06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STAGE 01 · 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9144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0F4FF"/>
                </a:solidFill>
                <a:latin typeface="Inter"/>
              </a:rPr>
              <a:t>"Improve the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0F4FF"/>
                </a:solidFill>
                <a:latin typeface="Inter"/>
              </a:rPr>
              <a:t>dashboard" is a trap.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852160"/>
            <a:ext cx="4206240" cy="438912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 w="12700">
            <a:solidFill>
              <a:srgbClr val="F58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126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300">
                <a:solidFill>
                  <a:srgbClr val="F58BB6"/>
                </a:solidFill>
                <a:latin typeface="Inter"/>
              </a:rPr>
              <a:t>VAGUE  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76656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0F4FF"/>
                </a:solidFill>
                <a:latin typeface="Inter"/>
              </a:rPr>
              <a:t>"Fix the bug"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758952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0F4FF"/>
                </a:solidFill>
                <a:latin typeface="Inter"/>
              </a:rPr>
              <a:t>"Make it better"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841248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F0F4FF"/>
                </a:solidFill>
                <a:latin typeface="Inter"/>
              </a:rPr>
              <a:t>"Add rejected status"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5852160"/>
            <a:ext cx="4206240" cy="438912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6126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300">
                <a:solidFill>
                  <a:srgbClr val="4CE0D6"/>
                </a:solidFill>
                <a:latin typeface="Inter"/>
              </a:rPr>
              <a:t>CLEAR 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6766560"/>
            <a:ext cx="38404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800" b="1">
                <a:solidFill>
                  <a:srgbClr val="4CE0D6"/>
                </a:solidFill>
                <a:latin typeface="Inter"/>
              </a:rPr>
              <a:t>Objective</a:t>
            </a:r>
            <a:r>
              <a:rPr sz="1800">
                <a:solidFill>
                  <a:srgbClr val="F0F4FF"/>
                </a:solidFill>
                <a:latin typeface="Inter"/>
              </a:rPr>
              <a:t> ·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7543800"/>
            <a:ext cx="38404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800" b="1">
                <a:solidFill>
                  <a:srgbClr val="4CE0D6"/>
                </a:solidFill>
                <a:latin typeface="Inter"/>
              </a:rPr>
              <a:t>Scope</a:t>
            </a:r>
            <a:r>
              <a:rPr sz="1800">
                <a:solidFill>
                  <a:srgbClr val="F0F4FF"/>
                </a:solidFill>
                <a:latin typeface="Inter"/>
              </a:rPr>
              <a:t> · which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8321040"/>
            <a:ext cx="38404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800" b="1">
                <a:solidFill>
                  <a:srgbClr val="4CE0D6"/>
                </a:solidFill>
                <a:latin typeface="Inter"/>
              </a:rPr>
              <a:t>Done</a:t>
            </a:r>
            <a:r>
              <a:rPr sz="1800">
                <a:solidFill>
                  <a:srgbClr val="F0F4FF"/>
                </a:solidFill>
                <a:latin typeface="Inter"/>
              </a:rPr>
              <a:t> · a checkable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9098280"/>
            <a:ext cx="384048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800" b="1">
                <a:solidFill>
                  <a:srgbClr val="4CE0D6"/>
                </a:solidFill>
                <a:latin typeface="Inter"/>
              </a:rPr>
              <a:t>Rules</a:t>
            </a:r>
            <a:r>
              <a:rPr sz="1800">
                <a:solidFill>
                  <a:srgbClr val="F0F4FF"/>
                </a:solidFill>
                <a:latin typeface="Inter"/>
              </a:rPr>
              <a:t> · what NOT to 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06984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C7CEE8"/>
                </a:solidFill>
                <a:latin typeface="Inter"/>
              </a:rPr>
              <a:t>If a stranger took your instruction literally — would you be happy?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Define · Context · Investigate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SWIPE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07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STAGE 04 · BOUNDARIES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9144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0F4FF"/>
                </a:solidFill>
                <a:latin typeface="Inter"/>
              </a:rPr>
              <a:t>The half</a:t>
            </a:r>
          </a:p>
          <a:p>
            <a:pPr algn="l">
              <a:lnSpc>
                <a:spcPct val="100000"/>
              </a:lnSpc>
            </a:pPr>
            <a:r>
              <a:rPr sz="5200" b="1">
                <a:solidFill>
                  <a:srgbClr val="F0F4FF"/>
                </a:solidFill>
                <a:latin typeface="Inter"/>
              </a:rPr>
              <a:t>everyone forgets.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300">
                <a:solidFill>
                  <a:srgbClr val="4CE0D6"/>
                </a:solidFill>
                <a:latin typeface="Inter"/>
              </a:rPr>
              <a:t>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6309360"/>
            <a:ext cx="4206240" cy="32918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5836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→  Applications list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72694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→  Its stylesheet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58521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spc="300">
                <a:solidFill>
                  <a:srgbClr val="F58BB6"/>
                </a:solidFill>
                <a:latin typeface="Inter"/>
              </a:rPr>
              <a:t>DO NOT CHANGE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6309360"/>
            <a:ext cx="4206240" cy="32918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65836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0F4FF"/>
                </a:solidFill>
                <a:latin typeface="Inter"/>
              </a:rPr>
              <a:t>✕  Sign-in / 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7132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0F4FF"/>
                </a:solidFill>
                <a:latin typeface="Inter"/>
              </a:rPr>
              <a:t>✕  Database schema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76809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0F4FF"/>
                </a:solidFill>
                <a:latin typeface="Inter"/>
              </a:rPr>
              <a:t>✕  The Add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822959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0F4FF"/>
                </a:solidFill>
                <a:latin typeface="Inter"/>
              </a:rPr>
              <a:t>✕  Anything not listed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9784080"/>
            <a:ext cx="8915400" cy="1645920"/>
          </a:xfrm>
          <a:prstGeom prst="roundRect">
            <a:avLst>
              <a:gd name="adj" fmla="val 5000"/>
            </a:avLst>
          </a:prstGeom>
          <a:solidFill>
            <a:srgbClr val="0B1638"/>
          </a:solidFill>
          <a:ln w="12700">
            <a:solidFill>
              <a:srgbClr val="4CE0D6"/>
            </a:solidFill>
            <a:prstDash val="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9966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spc="300">
                <a:solidFill>
                  <a:srgbClr val="4CE0D6"/>
                </a:solidFill>
                <a:latin typeface="Inter"/>
              </a:rPr>
              <a:t>PASTE THIS IN EVERY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042416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F0F4FF"/>
                </a:solidFill>
                <a:latin typeface="JetBrains Mono"/>
              </a:rPr>
              <a:t>"If you believe another file must change, STOP and tell me — do not change it yourself."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One sentence · huge safety 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NEXT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08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STAGES 05 – 06 · EXECUTE +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9144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0F4FF"/>
                </a:solidFill>
                <a:latin typeface="Inter"/>
              </a:rPr>
              <a:t>Code that looks right</a:t>
            </a:r>
          </a:p>
          <a:p>
            <a:pPr algn="l">
              <a:lnSpc>
                <a:spcPct val="100000"/>
              </a:lnSpc>
            </a:pPr>
            <a:r>
              <a:rPr sz="4800" b="1">
                <a:solidFill>
                  <a:srgbClr val="F0F4FF"/>
                </a:solidFill>
                <a:latin typeface="Inter"/>
              </a:rPr>
              <a:t>can be wrong.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6766560"/>
            <a:ext cx="1600200" cy="16002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70408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4CE0D6"/>
                </a:solidFill>
                <a:latin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77266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200">
                <a:solidFill>
                  <a:srgbClr val="F0F4FF"/>
                </a:solidFill>
                <a:latin typeface="Inter"/>
              </a:rPr>
              <a:t>IMPLEMENT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6766560"/>
            <a:ext cx="1600200" cy="16002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70408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4CE0D6"/>
                </a:solidFill>
                <a:latin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77266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200">
                <a:solidFill>
                  <a:srgbClr val="F0F4FF"/>
                </a:solidFill>
                <a:latin typeface="Inter"/>
              </a:rPr>
              <a:t>TEST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6766560"/>
            <a:ext cx="1600200" cy="16002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70408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4CE0D6"/>
                </a:solidFill>
                <a:latin typeface="Inter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77266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200">
                <a:solidFill>
                  <a:srgbClr val="F0F4FF"/>
                </a:solidFill>
                <a:latin typeface="Inter"/>
              </a:rPr>
              <a:t>FIX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6766560"/>
            <a:ext cx="1600200" cy="16002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70408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4CE0D6"/>
                </a:solidFill>
                <a:latin typeface="Inter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77266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200">
                <a:solidFill>
                  <a:srgbClr val="F0F4FF"/>
                </a:solidFill>
                <a:latin typeface="Inter"/>
              </a:rPr>
              <a:t>TEST AGAIN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60" y="6766560"/>
            <a:ext cx="1600200" cy="16002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7040880"/>
            <a:ext cx="1600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600" b="1">
                <a:solidFill>
                  <a:srgbClr val="4CE0D6"/>
                </a:solidFill>
                <a:latin typeface="Inter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77266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spc="200">
                <a:solidFill>
                  <a:srgbClr val="F0F4FF"/>
                </a:solidFill>
                <a:latin typeface="Inter"/>
              </a:rPr>
              <a:t>VALIDATE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9601200"/>
            <a:ext cx="8915400" cy="1828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9784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spc="300">
                <a:solidFill>
                  <a:srgbClr val="4CE0D6"/>
                </a:solidFill>
                <a:latin typeface="Inter"/>
              </a:rPr>
              <a:t>A TEST IS NOTHING SCARY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1014984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0F4FF"/>
                </a:solidFill>
                <a:latin typeface="Inter"/>
              </a:rPr>
              <a:t>A test = asking the software 'does this work?' — and getting an honest answer.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The feedback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READ THE DIFF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STAGES 07 – 08 · REVIEW + 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9144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0F4FF"/>
                </a:solidFill>
                <a:latin typeface="Inter"/>
              </a:rPr>
              <a:t>Never ship a change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0F4FF"/>
                </a:solidFill>
                <a:latin typeface="Inter"/>
              </a:rPr>
              <a:t>you didn't read.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6400800"/>
            <a:ext cx="4206240" cy="4206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6675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300">
                <a:solidFill>
                  <a:srgbClr val="4CE0D6"/>
                </a:solidFill>
                <a:latin typeface="Inter"/>
              </a:rPr>
              <a:t>REVIEW THE DIFF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72694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F4FF"/>
                </a:solidFill>
                <a:latin typeface="Inter"/>
              </a:rPr>
              <a:t>·  What changed?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777240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F4FF"/>
                </a:solidFill>
                <a:latin typeface="Inter"/>
              </a:rPr>
              <a:t>·  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8275319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F4FF"/>
                </a:solidFill>
                <a:latin typeface="Inter"/>
              </a:rPr>
              <a:t>·  Anything unrelated?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8778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F4FF"/>
                </a:solidFill>
                <a:latin typeface="Inter"/>
              </a:rPr>
              <a:t>·  Simpler than needed?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928116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F4FF"/>
                </a:solidFill>
                <a:latin typeface="Inter"/>
              </a:rPr>
              <a:t>·  Unexpected files?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97840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F0F4FF"/>
                </a:solidFill>
                <a:latin typeface="Inter"/>
              </a:rPr>
              <a:t>·  Actually solves it?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0" y="6400800"/>
            <a:ext cx="4206240" cy="420624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667512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spc="300">
                <a:solidFill>
                  <a:srgbClr val="4CE0D6"/>
                </a:solidFill>
                <a:latin typeface="Inter"/>
              </a:rPr>
              <a:t>TURN SURPRISE INTO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726948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→  Notice the mistake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800100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→  Write the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87325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→  Save it in project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946404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0F4FF"/>
                </a:solidFill>
                <a:latin typeface="Inter"/>
              </a:rPr>
              <a:t>→  Never happens again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088136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C7CEE8"/>
                </a:solidFill>
                <a:latin typeface="Inter"/>
              </a:rPr>
              <a:t>Your project should get EASIER over time — not harder.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Own the change · learn from every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REAL EXAMPLE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4CE0D6"/>
                </a:solidFill>
                <a:latin typeface="Inter"/>
              </a:rPr>
              <a:t>ONE REAL TASK · JOB TRACKER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9144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F0F4FF"/>
                </a:solidFill>
                <a:latin typeface="Inter"/>
              </a:rPr>
              <a:t>"Add a status filter."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03520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5303520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5422392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2239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44068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54406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Objective, scope, done — in writing.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6099048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6099048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05840" y="6217920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6217920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62362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623620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Agent reads project memory.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6894576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6894576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7013448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7013448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703173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INVESTIGATE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703173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"Summarize how status works today."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7690104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7690104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5840" y="7808976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7808976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782726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7827264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Only the list page. Nothing else.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8485632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8485632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05840" y="8604504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8604504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86227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EXECUTE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8622792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Step 1 buttons. Step 2 wire them up.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9281160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5800" y="9281160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9400032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5840" y="9400032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941832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VERIFY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94183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Click every filter. Try edge cases.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10076688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5800" y="10076688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10195560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840" y="10195560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37360" y="10213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102138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Two files. No stray edits. Approved.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10872216"/>
            <a:ext cx="8915400" cy="68580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" y="10872216"/>
            <a:ext cx="73152" cy="685800"/>
          </a:xfrm>
          <a:prstGeom prst="rect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5840" y="10991088"/>
            <a:ext cx="438912" cy="438912"/>
          </a:xfrm>
          <a:prstGeom prst="ellipse">
            <a:avLst/>
          </a:prstGeom>
          <a:solidFill>
            <a:srgbClr val="4CE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" y="10991088"/>
            <a:ext cx="438912" cy="4389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060B1C"/>
                </a:solidFill>
                <a:latin typeface="Inter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1100937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0F4FF"/>
                </a:solidFill>
                <a:latin typeface="Inter"/>
              </a:rPr>
              <a:t>LEARN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11009376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E99C0"/>
                </a:solidFill>
                <a:latin typeface="Inter"/>
              </a:rPr>
              <a:t>One new naming rule → project memory.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1194435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8E99C0"/>
                </a:solidFill>
                <a:latin typeface="Inter"/>
              </a:rPr>
              <a:t>One feature · one afternoon · zero drama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1194435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1">
                <a:solidFill>
                  <a:srgbClr val="4CE0D6"/>
                </a:solidFill>
                <a:latin typeface="Inter"/>
              </a:rPr>
              <a:t>LAST SLIDE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6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-2743200"/>
            <a:ext cx="9144000" cy="8229600"/>
          </a:xfrm>
          <a:prstGeom prst="ellipse">
            <a:avLst/>
          </a:prstGeom>
          <a:solidFill>
            <a:srgbClr val="0B1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685800"/>
            <a:ext cx="237744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4C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237744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4CE0D6"/>
                </a:solidFill>
                <a:latin typeface="Inter"/>
              </a:rPr>
              <a:t>@DATA.SCIENCE.BEGINNERS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0" y="68580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1">
                <a:solidFill>
                  <a:srgbClr val="8E99C0"/>
                </a:solidFill>
                <a:latin typeface="Inter"/>
              </a:rPr>
              <a:t>11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spc="300">
                <a:solidFill>
                  <a:srgbClr val="4CE0D6"/>
                </a:solidFill>
                <a:latin typeface="Inter"/>
              </a:rPr>
              <a:t>THE ONE LINE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9144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Don't aim for</a:t>
            </a:r>
          </a:p>
          <a:p>
            <a:pPr algn="ctr">
              <a:lnSpc>
                <a:spcPct val="105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max autonomy.</a:t>
            </a:r>
          </a:p>
          <a:p>
            <a:pPr algn="ctr">
              <a:lnSpc>
                <a:spcPct val="105000"/>
              </a:lnSpc>
            </a:pPr>
            <a:r>
              <a:rPr sz="6400" b="1">
                <a:solidFill>
                  <a:srgbClr val="F0F4FF"/>
                </a:solidFill>
                <a:latin typeface="Inter"/>
              </a:rPr>
              <a:t>Aim for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2120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6400" b="1">
                <a:solidFill>
                  <a:srgbClr val="4CE0D6"/>
                </a:solidFill>
                <a:latin typeface="Inter"/>
              </a:rPr>
              <a:t>Aim for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722376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C7CEE8"/>
                </a:solidFill>
                <a:latin typeface="Inter"/>
              </a:rPr>
              <a:t>A prompt is one instruction.</a:t>
            </a:r>
          </a:p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C7CEE8"/>
                </a:solidFill>
                <a:latin typeface="Inter"/>
              </a:rPr>
              <a:t>A workflow is the system that surrounds it.</a:t>
            </a:r>
          </a:p>
          <a:p>
            <a:pPr algn="ctr">
              <a:lnSpc>
                <a:spcPct val="150000"/>
              </a:lnSpc>
            </a:pPr>
            <a:r>
              <a:rPr sz="1800" b="0">
                <a:solidFill>
                  <a:srgbClr val="C7CEE8"/>
                </a:solidFill>
                <a:latin typeface="Inter"/>
              </a:rPr>
              <a:t>Good results come from good systems — not clever sentences.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9601200"/>
            <a:ext cx="8458200" cy="82296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97840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0F4FF"/>
                </a:solidFill>
                <a:latin typeface="Inter"/>
              </a:rPr>
              <a:t>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9802368"/>
            <a:ext cx="73152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500" b="1">
                <a:solidFill>
                  <a:srgbClr val="4CE0D6"/>
                </a:solidFill>
                <a:latin typeface="Inter"/>
              </a:rPr>
              <a:t>SAVE</a:t>
            </a:r>
            <a:r>
              <a:rPr sz="1400">
                <a:solidFill>
                  <a:srgbClr val="F0F4FF"/>
                </a:solidFill>
                <a:latin typeface="Inter"/>
              </a:rPr>
              <a:t> so you can find it again on your next AI coding session.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0588752"/>
            <a:ext cx="8458200" cy="82296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07716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0F4FF"/>
                </a:solidFill>
                <a:latin typeface="Inter"/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0789920"/>
            <a:ext cx="73152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500" b="1">
                <a:solidFill>
                  <a:srgbClr val="4CE0D6"/>
                </a:solidFill>
                <a:latin typeface="Inter"/>
              </a:rPr>
              <a:t>SHARE</a:t>
            </a:r>
            <a:r>
              <a:rPr sz="1400">
                <a:solidFill>
                  <a:srgbClr val="F0F4FF"/>
                </a:solidFill>
                <a:latin typeface="Inter"/>
              </a:rPr>
              <a:t> with a friend who's fighting their AI right now.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11576304"/>
            <a:ext cx="8458200" cy="822960"/>
          </a:xfrm>
          <a:prstGeom prst="roundRect">
            <a:avLst>
              <a:gd name="adj" fmla="val 5000"/>
            </a:avLst>
          </a:prstGeom>
          <a:solidFill>
            <a:srgbClr val="142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1175918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0F4FF"/>
                </a:solidFill>
                <a:latin typeface="Inter"/>
              </a:rPr>
              <a:t>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11777472"/>
            <a:ext cx="73152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1500" b="1">
                <a:solidFill>
                  <a:srgbClr val="4CE0D6"/>
                </a:solidFill>
                <a:latin typeface="Inter"/>
              </a:rPr>
              <a:t>DM</a:t>
            </a:r>
            <a:r>
              <a:rPr sz="1400">
                <a:solidFill>
                  <a:srgbClr val="F0F4FF"/>
                </a:solidFill>
                <a:latin typeface="Inter"/>
              </a:rPr>
              <a:t> "PLAYBOOK" to @data.science.beginners for the full 32-page 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